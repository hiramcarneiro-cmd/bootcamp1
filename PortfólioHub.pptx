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8229600" cx="14630400"/>
  <p:notesSz cx="8229600" cy="14630400"/>
  <p:embeddedFontLst>
    <p:embeddedFont>
      <p:font typeface="Sora SemiBold"/>
      <p:regular r:id="rId13"/>
      <p:bold r:id="rId14"/>
    </p:embeddedFont>
    <p:embeddedFont>
      <p:font typeface="Sora Light"/>
      <p:regular r:id="rId15"/>
      <p:bold r:id="rId16"/>
    </p:embeddedFont>
    <p:embeddedFont>
      <p:font typeface="Sora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SoraSemiBold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SoraLight-regular.fntdata"/><Relationship Id="rId14" Type="http://schemas.openxmlformats.org/officeDocument/2006/relationships/font" Target="fonts/SoraSemiBold-bold.fntdata"/><Relationship Id="rId17" Type="http://schemas.openxmlformats.org/officeDocument/2006/relationships/font" Target="fonts/Sora-regular.fntdata"/><Relationship Id="rId16" Type="http://schemas.openxmlformats.org/officeDocument/2006/relationships/font" Target="fonts/SoraLigh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Sora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hiramcarneiro-cmd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hyperlink" Target="mailto:hiram.carneiro@gmail.com" TargetMode="External"/><Relationship Id="rId4" Type="http://schemas.openxmlformats.org/officeDocument/2006/relationships/hyperlink" Target="https://github.com/hiramcarneiro-cmd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" name="Google Shape;4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/>
          <p:nvPr/>
        </p:nvSpPr>
        <p:spPr>
          <a:xfrm>
            <a:off x="864037" y="3128486"/>
            <a:ext cx="8348067" cy="81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09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5100"/>
              <a:buFont typeface="Sora"/>
              <a:buNone/>
            </a:pPr>
            <a:r>
              <a:rPr b="0" i="0" lang="en-US" sz="5100" u="none" cap="none" strike="noStrike">
                <a:solidFill>
                  <a:srgbClr val="1F1E1E"/>
                </a:solidFill>
                <a:latin typeface="Sora"/>
                <a:ea typeface="Sora"/>
                <a:cs typeface="Sora"/>
                <a:sym typeface="Sora"/>
              </a:rPr>
              <a:t>Portfólio: Hiram Carneiro</a:t>
            </a:r>
            <a:endParaRPr b="0" i="0" sz="5100" u="none" cap="none" strike="noStrike"/>
          </a:p>
        </p:txBody>
      </p:sp>
      <p:sp>
        <p:nvSpPr>
          <p:cNvPr id="51" name="Google Shape;51;p11"/>
          <p:cNvSpPr/>
          <p:nvPr/>
        </p:nvSpPr>
        <p:spPr>
          <a:xfrm>
            <a:off x="864037" y="4310896"/>
            <a:ext cx="12902327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00"/>
              <a:buFont typeface="Sora"/>
              <a:buNone/>
            </a:pPr>
            <a:r>
              <a:rPr b="0" i="0" lang="en-US" sz="19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Estudante de Análise e Desenvolvimento de Sistemas apaixonado por tecnologia, jogos e música. Uma mente curiosa explorando o mundo através da programação e da criatividade.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/>
          <p:nvPr/>
        </p:nvSpPr>
        <p:spPr>
          <a:xfrm>
            <a:off x="864037" y="1204079"/>
            <a:ext cx="12902327" cy="1624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09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5100"/>
              <a:buFont typeface="Sora"/>
              <a:buNone/>
            </a:pPr>
            <a:r>
              <a:rPr b="0" i="0" lang="en-US" sz="5100" u="none" cap="none" strike="noStrike">
                <a:solidFill>
                  <a:srgbClr val="1F1E1E"/>
                </a:solidFill>
                <a:latin typeface="Sora"/>
                <a:ea typeface="Sora"/>
                <a:cs typeface="Sora"/>
                <a:sym typeface="Sora"/>
              </a:rPr>
              <a:t>Sobre Mim: Uma Mente Curiosa e Criativa</a:t>
            </a:r>
            <a:endParaRPr b="0" i="0" sz="5100" u="none" cap="none" strike="noStrike"/>
          </a:p>
        </p:txBody>
      </p:sp>
      <p:sp>
        <p:nvSpPr>
          <p:cNvPr id="58" name="Google Shape;58;p12"/>
          <p:cNvSpPr/>
          <p:nvPr/>
        </p:nvSpPr>
        <p:spPr>
          <a:xfrm>
            <a:off x="686276" y="3198614"/>
            <a:ext cx="6505575" cy="3826907"/>
          </a:xfrm>
          <a:prstGeom prst="roundRect">
            <a:avLst>
              <a:gd fmla="val 4645" name="adj"/>
            </a:avLst>
          </a:prstGeom>
          <a:solidFill>
            <a:srgbClr val="DA1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2"/>
          <p:cNvSpPr/>
          <p:nvPr/>
        </p:nvSpPr>
        <p:spPr>
          <a:xfrm>
            <a:off x="933093" y="3445431"/>
            <a:ext cx="3248501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Sora SemiBold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Sora SemiBold"/>
                <a:ea typeface="Sora SemiBold"/>
                <a:cs typeface="Sora SemiBold"/>
                <a:sym typeface="Sora SemiBold"/>
              </a:rPr>
              <a:t>Minha Jornada</a:t>
            </a:r>
            <a:endParaRPr b="0" i="0" sz="2550" u="none" cap="none" strike="noStrike"/>
          </a:p>
        </p:txBody>
      </p:sp>
      <p:sp>
        <p:nvSpPr>
          <p:cNvPr id="60" name="Google Shape;60;p12"/>
          <p:cNvSpPr/>
          <p:nvPr/>
        </p:nvSpPr>
        <p:spPr>
          <a:xfrm>
            <a:off x="933093" y="4098250"/>
            <a:ext cx="6011942" cy="1185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Sora Light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Sora Light"/>
                <a:ea typeface="Sora Light"/>
                <a:cs typeface="Sora Light"/>
                <a:sym typeface="Sora Light"/>
              </a:rPr>
              <a:t>Estudante dedicado da CEUB, mergulhando no fascinante mundo da tecnologia e desenvolvimento de sistemas.</a:t>
            </a:r>
            <a:endParaRPr b="0" i="0" sz="1900" u="none" cap="none" strike="noStrike"/>
          </a:p>
        </p:txBody>
      </p:sp>
      <p:sp>
        <p:nvSpPr>
          <p:cNvPr id="61" name="Google Shape;61;p12"/>
          <p:cNvSpPr/>
          <p:nvPr/>
        </p:nvSpPr>
        <p:spPr>
          <a:xfrm>
            <a:off x="7623929" y="3420785"/>
            <a:ext cx="6150054" cy="2370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00"/>
              <a:buFont typeface="Sora"/>
              <a:buNone/>
            </a:pPr>
            <a:r>
              <a:rPr b="0" i="0" lang="en-US" sz="19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Minha perspectiva única como pessoa autista me permite enxergar detalhes que muitos não percebem, transformando desafios em oportunidades criativas. Cada linha de código, cada nota musical, cada partida de jogo é uma chance de aprender e crescer.</a:t>
            </a:r>
            <a:endParaRPr b="0" i="0" sz="1900" u="none" cap="none" strike="noStrike"/>
          </a:p>
        </p:txBody>
      </p:sp>
      <p:sp>
        <p:nvSpPr>
          <p:cNvPr id="62" name="Google Shape;62;p12"/>
          <p:cNvSpPr/>
          <p:nvPr/>
        </p:nvSpPr>
        <p:spPr>
          <a:xfrm>
            <a:off x="7623929" y="6013252"/>
            <a:ext cx="6150054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00"/>
              <a:buFont typeface="Sora"/>
              <a:buNone/>
            </a:pPr>
            <a:r>
              <a:rPr b="0" i="0" lang="en-US" sz="19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Acredito que a neurodiversidade traz forças únicas para a tecnologia e a inovação.</a:t>
            </a:r>
            <a:endParaRPr b="0" i="0" sz="1900" u="none" cap="none" strike="noStrike"/>
          </a:p>
        </p:txBody>
      </p:sp>
      <p:sp>
        <p:nvSpPr>
          <p:cNvPr id="63" name="Google Shape;63;p12"/>
          <p:cNvSpPr/>
          <p:nvPr/>
        </p:nvSpPr>
        <p:spPr>
          <a:xfrm>
            <a:off x="12733250" y="7614400"/>
            <a:ext cx="1897200" cy="615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/>
          <p:nvPr/>
        </p:nvSpPr>
        <p:spPr>
          <a:xfrm>
            <a:off x="864037" y="1035368"/>
            <a:ext cx="12902327" cy="1624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09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5100"/>
              <a:buFont typeface="Sora"/>
              <a:buNone/>
            </a:pPr>
            <a:r>
              <a:rPr b="0" i="0" lang="en-US" sz="5100" u="none" cap="none" strike="noStrike">
                <a:solidFill>
                  <a:srgbClr val="1F1E1E"/>
                </a:solidFill>
                <a:latin typeface="Sora"/>
                <a:ea typeface="Sora"/>
                <a:cs typeface="Sora"/>
                <a:sym typeface="Sora"/>
              </a:rPr>
              <a:t>Paixões que Impulsionam: Jogos, Música e Código</a:t>
            </a:r>
            <a:endParaRPr b="0" i="0" sz="5100" u="none" cap="none" strike="noStrike"/>
          </a:p>
        </p:txBody>
      </p:sp>
      <p:sp>
        <p:nvSpPr>
          <p:cNvPr id="70" name="Google Shape;70;p13"/>
          <p:cNvSpPr/>
          <p:nvPr/>
        </p:nvSpPr>
        <p:spPr>
          <a:xfrm>
            <a:off x="864037" y="3153370"/>
            <a:ext cx="4136231" cy="4040862"/>
          </a:xfrm>
          <a:prstGeom prst="roundRect">
            <a:avLst>
              <a:gd fmla="val 2566" name="adj"/>
            </a:avLst>
          </a:prstGeom>
          <a:solidFill>
            <a:srgbClr val="F9D2D6"/>
          </a:solidFill>
          <a:ln cap="flat" cmpd="sng" w="15225">
            <a:solidFill>
              <a:srgbClr val="DFB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3"/>
          <p:cNvSpPr/>
          <p:nvPr/>
        </p:nvSpPr>
        <p:spPr>
          <a:xfrm>
            <a:off x="1126093" y="3415427"/>
            <a:ext cx="740569" cy="740569"/>
          </a:xfrm>
          <a:prstGeom prst="roundRect">
            <a:avLst>
              <a:gd fmla="val 12346028" name="adj"/>
            </a:avLst>
          </a:prstGeom>
          <a:solidFill>
            <a:srgbClr val="DA1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9690" y="3619024"/>
            <a:ext cx="333256" cy="33325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3"/>
          <p:cNvSpPr/>
          <p:nvPr/>
        </p:nvSpPr>
        <p:spPr>
          <a:xfrm>
            <a:off x="1126093" y="4402812"/>
            <a:ext cx="3248501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Jogos</a:t>
            </a:r>
            <a:endParaRPr b="0" i="0" sz="2550" u="none" cap="none" strike="noStrike"/>
          </a:p>
        </p:txBody>
      </p:sp>
      <p:sp>
        <p:nvSpPr>
          <p:cNvPr id="74" name="Google Shape;74;p13"/>
          <p:cNvSpPr/>
          <p:nvPr/>
        </p:nvSpPr>
        <p:spPr>
          <a:xfrm>
            <a:off x="1126093" y="4956929"/>
            <a:ext cx="3612118" cy="1975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00"/>
              <a:buFont typeface="Sora"/>
              <a:buNone/>
            </a:pPr>
            <a:r>
              <a:rPr b="0" i="0" lang="en-US" sz="19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Desde a estratégia profunda até a imersão narrativa, os jogos são minha fonte constante de inspiração e aprendizado técnico.</a:t>
            </a:r>
            <a:endParaRPr b="0" i="0" sz="1900" u="none" cap="none" strike="noStrike"/>
          </a:p>
        </p:txBody>
      </p:sp>
      <p:sp>
        <p:nvSpPr>
          <p:cNvPr id="75" name="Google Shape;75;p13"/>
          <p:cNvSpPr/>
          <p:nvPr/>
        </p:nvSpPr>
        <p:spPr>
          <a:xfrm>
            <a:off x="5247084" y="3153370"/>
            <a:ext cx="4136231" cy="4040862"/>
          </a:xfrm>
          <a:prstGeom prst="roundRect">
            <a:avLst>
              <a:gd fmla="val 2566" name="adj"/>
            </a:avLst>
          </a:prstGeom>
          <a:solidFill>
            <a:srgbClr val="F9D2D6"/>
          </a:solidFill>
          <a:ln cap="flat" cmpd="sng" w="15225">
            <a:solidFill>
              <a:srgbClr val="DFB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3"/>
          <p:cNvSpPr/>
          <p:nvPr/>
        </p:nvSpPr>
        <p:spPr>
          <a:xfrm>
            <a:off x="5509141" y="3415427"/>
            <a:ext cx="740569" cy="740569"/>
          </a:xfrm>
          <a:prstGeom prst="roundRect">
            <a:avLst>
              <a:gd fmla="val 12346028" name="adj"/>
            </a:avLst>
          </a:prstGeom>
          <a:solidFill>
            <a:srgbClr val="DA1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2738" y="3619024"/>
            <a:ext cx="333256" cy="33325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3"/>
          <p:cNvSpPr/>
          <p:nvPr/>
        </p:nvSpPr>
        <p:spPr>
          <a:xfrm>
            <a:off x="5509141" y="4402812"/>
            <a:ext cx="3248501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Música</a:t>
            </a:r>
            <a:endParaRPr b="0" i="0" sz="2550" u="none" cap="none" strike="noStrike"/>
          </a:p>
        </p:txBody>
      </p:sp>
      <p:sp>
        <p:nvSpPr>
          <p:cNvPr id="79" name="Google Shape;79;p13"/>
          <p:cNvSpPr/>
          <p:nvPr/>
        </p:nvSpPr>
        <p:spPr>
          <a:xfrm>
            <a:off x="5509141" y="4956929"/>
            <a:ext cx="3612118" cy="1975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00"/>
              <a:buFont typeface="Sora"/>
              <a:buNone/>
            </a:pPr>
            <a:r>
              <a:rPr b="0" i="0" lang="en-US" sz="19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A harmonia e estrutura musical ressoam profundamente com meu apreço pela lógica, padrões e criatividade expressiva.</a:t>
            </a:r>
            <a:endParaRPr b="0" i="0" sz="1900" u="none" cap="none" strike="noStrike"/>
          </a:p>
        </p:txBody>
      </p:sp>
      <p:sp>
        <p:nvSpPr>
          <p:cNvPr id="80" name="Google Shape;80;p13"/>
          <p:cNvSpPr/>
          <p:nvPr/>
        </p:nvSpPr>
        <p:spPr>
          <a:xfrm>
            <a:off x="9630132" y="3153370"/>
            <a:ext cx="4136231" cy="4040862"/>
          </a:xfrm>
          <a:prstGeom prst="roundRect">
            <a:avLst>
              <a:gd fmla="val 2566" name="adj"/>
            </a:avLst>
          </a:prstGeom>
          <a:solidFill>
            <a:srgbClr val="F9D2D6"/>
          </a:solidFill>
          <a:ln cap="flat" cmpd="sng" w="15225">
            <a:solidFill>
              <a:srgbClr val="DFB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9892189" y="3415427"/>
            <a:ext cx="740569" cy="740569"/>
          </a:xfrm>
          <a:prstGeom prst="roundRect">
            <a:avLst>
              <a:gd fmla="val 12346028" name="adj"/>
            </a:avLst>
          </a:prstGeom>
          <a:solidFill>
            <a:srgbClr val="DA1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95786" y="3619024"/>
            <a:ext cx="333256" cy="33325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3"/>
          <p:cNvSpPr/>
          <p:nvPr/>
        </p:nvSpPr>
        <p:spPr>
          <a:xfrm>
            <a:off x="9892189" y="4402812"/>
            <a:ext cx="3248501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Programação</a:t>
            </a:r>
            <a:endParaRPr b="0" i="0" sz="2550" u="none" cap="none" strike="noStrike"/>
          </a:p>
        </p:txBody>
      </p:sp>
      <p:sp>
        <p:nvSpPr>
          <p:cNvPr id="84" name="Google Shape;84;p13"/>
          <p:cNvSpPr/>
          <p:nvPr/>
        </p:nvSpPr>
        <p:spPr>
          <a:xfrm>
            <a:off x="9892189" y="4956929"/>
            <a:ext cx="3612118" cy="1975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00"/>
              <a:buFont typeface="Sora"/>
              <a:buNone/>
            </a:pPr>
            <a:r>
              <a:rPr b="0" i="0" lang="en-US" sz="19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Transformar ideias abstratas em realidade funcional através do código é o que mais me fascina e motiva diariamente.</a:t>
            </a:r>
            <a:endParaRPr b="0" i="0" sz="1900" u="none" cap="none" strike="noStrike"/>
          </a:p>
        </p:txBody>
      </p:sp>
      <p:sp>
        <p:nvSpPr>
          <p:cNvPr id="85" name="Google Shape;85;p13"/>
          <p:cNvSpPr/>
          <p:nvPr/>
        </p:nvSpPr>
        <p:spPr>
          <a:xfrm>
            <a:off x="12397200" y="7687975"/>
            <a:ext cx="2233200" cy="46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864037" y="1050250"/>
            <a:ext cx="11073170" cy="81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09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5100"/>
              <a:buFont typeface="Sora"/>
              <a:buNone/>
            </a:pPr>
            <a:r>
              <a:rPr b="0" i="0" lang="en-US" sz="5100" u="none" cap="none" strike="noStrike">
                <a:solidFill>
                  <a:srgbClr val="1F1E1E"/>
                </a:solidFill>
                <a:latin typeface="Sora"/>
                <a:ea typeface="Sora"/>
                <a:cs typeface="Sora"/>
                <a:sym typeface="Sora"/>
              </a:rPr>
              <a:t>Habilidades Técnicas e Formação</a:t>
            </a:r>
            <a:endParaRPr b="0" i="0" sz="5100" u="none" cap="none" strike="noStrike"/>
          </a:p>
        </p:txBody>
      </p:sp>
      <p:sp>
        <p:nvSpPr>
          <p:cNvPr id="92" name="Google Shape;92;p14"/>
          <p:cNvSpPr/>
          <p:nvPr/>
        </p:nvSpPr>
        <p:spPr>
          <a:xfrm>
            <a:off x="864037" y="2356128"/>
            <a:ext cx="4136231" cy="4823222"/>
          </a:xfrm>
          <a:prstGeom prst="roundRect">
            <a:avLst>
              <a:gd fmla="val 3537" name="adj"/>
            </a:avLst>
          </a:prstGeom>
          <a:solidFill>
            <a:srgbClr val="FFFFFF"/>
          </a:solidFill>
          <a:ln cap="flat" cmpd="sng" w="30475">
            <a:solidFill>
              <a:srgbClr val="DA1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833557" y="2356128"/>
            <a:ext cx="121920" cy="4823222"/>
          </a:xfrm>
          <a:prstGeom prst="roundRect">
            <a:avLst>
              <a:gd fmla="val 85050" name="adj"/>
            </a:avLst>
          </a:prstGeom>
          <a:solidFill>
            <a:srgbClr val="DA1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1232773" y="2633424"/>
            <a:ext cx="3490198" cy="812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Formação Acadêmica</a:t>
            </a:r>
            <a:endParaRPr b="0" i="0" sz="2550" u="none" cap="none" strike="noStrike"/>
          </a:p>
        </p:txBody>
      </p:sp>
      <p:sp>
        <p:nvSpPr>
          <p:cNvPr id="95" name="Google Shape;95;p14"/>
          <p:cNvSpPr/>
          <p:nvPr/>
        </p:nvSpPr>
        <p:spPr>
          <a:xfrm>
            <a:off x="1232773" y="3593544"/>
            <a:ext cx="3490198" cy="1580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00"/>
              <a:buFont typeface="Sora"/>
              <a:buNone/>
            </a:pPr>
            <a:r>
              <a:rPr b="1" i="0" lang="en-US" sz="19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Análise e Desenvolvimento de Sistemas</a:t>
            </a:r>
            <a:r>
              <a:rPr b="0" i="0" lang="en-US" sz="19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 - Centro Universitário de Brasília (CEUB)</a:t>
            </a:r>
            <a:endParaRPr b="0" i="0" sz="1900" u="none" cap="none" strike="noStrike"/>
          </a:p>
        </p:txBody>
      </p:sp>
      <p:sp>
        <p:nvSpPr>
          <p:cNvPr id="96" name="Google Shape;96;p14"/>
          <p:cNvSpPr/>
          <p:nvPr/>
        </p:nvSpPr>
        <p:spPr>
          <a:xfrm>
            <a:off x="1232773" y="5321856"/>
            <a:ext cx="3490198" cy="1580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00"/>
              <a:buFont typeface="Sora"/>
              <a:buNone/>
            </a:pPr>
            <a:r>
              <a:rPr b="0" i="0" lang="en-US" sz="19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Construindo fundamentos sólidos em programação, bancos de dados e arquitetura de software.</a:t>
            </a:r>
            <a:endParaRPr b="0" i="0" sz="1900" u="none" cap="none" strike="noStrike"/>
          </a:p>
        </p:txBody>
      </p:sp>
      <p:sp>
        <p:nvSpPr>
          <p:cNvPr id="97" name="Google Shape;97;p14"/>
          <p:cNvSpPr/>
          <p:nvPr/>
        </p:nvSpPr>
        <p:spPr>
          <a:xfrm>
            <a:off x="5247084" y="2356128"/>
            <a:ext cx="4136231" cy="4823222"/>
          </a:xfrm>
          <a:prstGeom prst="roundRect">
            <a:avLst>
              <a:gd fmla="val 3537" name="adj"/>
            </a:avLst>
          </a:prstGeom>
          <a:solidFill>
            <a:srgbClr val="FFFFFF"/>
          </a:solidFill>
          <a:ln cap="flat" cmpd="sng" w="30475">
            <a:solidFill>
              <a:srgbClr val="790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216604" y="2356128"/>
            <a:ext cx="121920" cy="4823222"/>
          </a:xfrm>
          <a:prstGeom prst="roundRect">
            <a:avLst>
              <a:gd fmla="val 85050" name="adj"/>
            </a:avLst>
          </a:prstGeom>
          <a:solidFill>
            <a:srgbClr val="790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615821" y="2633424"/>
            <a:ext cx="3248501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Idiomas</a:t>
            </a:r>
            <a:endParaRPr b="0" i="0" sz="2550" u="none" cap="none" strike="noStrike"/>
          </a:p>
        </p:txBody>
      </p:sp>
      <p:sp>
        <p:nvSpPr>
          <p:cNvPr id="100" name="Google Shape;100;p14"/>
          <p:cNvSpPr/>
          <p:nvPr/>
        </p:nvSpPr>
        <p:spPr>
          <a:xfrm>
            <a:off x="5615821" y="3187541"/>
            <a:ext cx="3490198" cy="1580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00"/>
              <a:buFont typeface="Sora"/>
              <a:buNone/>
            </a:pPr>
            <a:r>
              <a:rPr b="1" i="0" lang="en-US" sz="19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Inglês Fluente</a:t>
            </a:r>
            <a:r>
              <a:rPr b="0" i="0" lang="en-US" sz="19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 - Abridor de portas para conhecimento global e colaboração internacional.</a:t>
            </a:r>
            <a:endParaRPr b="0" i="0" sz="1900" u="none" cap="none" strike="noStrike"/>
          </a:p>
        </p:txBody>
      </p:sp>
      <p:sp>
        <p:nvSpPr>
          <p:cNvPr id="101" name="Google Shape;101;p14"/>
          <p:cNvSpPr/>
          <p:nvPr/>
        </p:nvSpPr>
        <p:spPr>
          <a:xfrm>
            <a:off x="5615821" y="4915853"/>
            <a:ext cx="3490198" cy="1580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00"/>
              <a:buFont typeface="Sora"/>
              <a:buNone/>
            </a:pPr>
            <a:r>
              <a:rPr b="0" i="0" lang="en-US" sz="19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Acesso direto a documentação, tutoriais e comunidades de tecnologia do mundo todo.</a:t>
            </a:r>
            <a:endParaRPr b="0" i="0" sz="1900" u="none" cap="none" strike="noStrike"/>
          </a:p>
        </p:txBody>
      </p:sp>
      <p:sp>
        <p:nvSpPr>
          <p:cNvPr id="102" name="Google Shape;102;p14"/>
          <p:cNvSpPr/>
          <p:nvPr/>
        </p:nvSpPr>
        <p:spPr>
          <a:xfrm>
            <a:off x="9630132" y="2356128"/>
            <a:ext cx="4136231" cy="4823222"/>
          </a:xfrm>
          <a:prstGeom prst="roundRect">
            <a:avLst>
              <a:gd fmla="val 3537" name="adj"/>
            </a:avLst>
          </a:prstGeom>
          <a:solidFill>
            <a:srgbClr val="FFFFFF"/>
          </a:solidFill>
          <a:ln cap="flat" cmpd="sng" w="30475">
            <a:solidFill>
              <a:srgbClr val="DA1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9599652" y="2356128"/>
            <a:ext cx="121920" cy="4823222"/>
          </a:xfrm>
          <a:prstGeom prst="roundRect">
            <a:avLst>
              <a:gd fmla="val 85050" name="adj"/>
            </a:avLst>
          </a:prstGeom>
          <a:solidFill>
            <a:srgbClr val="DA1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9998869" y="2633424"/>
            <a:ext cx="3490198" cy="812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Aprendizado Contínuo</a:t>
            </a:r>
            <a:endParaRPr b="0" i="0" sz="2550" u="none" cap="none" strike="noStrike"/>
          </a:p>
        </p:txBody>
      </p:sp>
      <p:sp>
        <p:nvSpPr>
          <p:cNvPr id="105" name="Google Shape;105;p14"/>
          <p:cNvSpPr/>
          <p:nvPr/>
        </p:nvSpPr>
        <p:spPr>
          <a:xfrm>
            <a:off x="9998869" y="3593544"/>
            <a:ext cx="3490198" cy="1975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00"/>
              <a:buFont typeface="Sora"/>
              <a:buNone/>
            </a:pPr>
            <a:r>
              <a:rPr b="0" i="0" lang="en-US" sz="19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Como pessoa autista, aprendo de forma profunda e focada, evoluindo constantemente através da prática e exploração.</a:t>
            </a:r>
            <a:endParaRPr b="0" i="0" sz="1900" u="none" cap="none" strike="noStrike"/>
          </a:p>
        </p:txBody>
      </p:sp>
      <p:sp>
        <p:nvSpPr>
          <p:cNvPr id="106" name="Google Shape;106;p14"/>
          <p:cNvSpPr/>
          <p:nvPr/>
        </p:nvSpPr>
        <p:spPr>
          <a:xfrm>
            <a:off x="9998869" y="5716905"/>
            <a:ext cx="3490198" cy="1185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00"/>
              <a:buFont typeface="Sora"/>
              <a:buNone/>
            </a:pPr>
            <a:r>
              <a:rPr b="0" i="0" lang="en-US" sz="19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Comprometido com o desenvolvimento técnico e pessoal contínuo.</a:t>
            </a:r>
            <a:endParaRPr b="0" i="0" sz="1900" u="none" cap="none" strike="noStrike"/>
          </a:p>
        </p:txBody>
      </p:sp>
      <p:sp>
        <p:nvSpPr>
          <p:cNvPr id="107" name="Google Shape;107;p14"/>
          <p:cNvSpPr/>
          <p:nvPr/>
        </p:nvSpPr>
        <p:spPr>
          <a:xfrm>
            <a:off x="12806925" y="7556400"/>
            <a:ext cx="1711500" cy="67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/>
          <p:nvPr/>
        </p:nvSpPr>
        <p:spPr>
          <a:xfrm>
            <a:off x="864037" y="1044654"/>
            <a:ext cx="12902327" cy="1624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09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5100"/>
              <a:buFont typeface="Sora"/>
              <a:buNone/>
            </a:pPr>
            <a:r>
              <a:rPr b="0" i="0" lang="en-US" sz="5100" u="none" cap="none" strike="noStrike">
                <a:solidFill>
                  <a:srgbClr val="1F1E1E"/>
                </a:solidFill>
                <a:latin typeface="Sora"/>
                <a:ea typeface="Sora"/>
                <a:cs typeface="Sora"/>
                <a:sym typeface="Sora"/>
              </a:rPr>
              <a:t>Projetos e Contribuições: Construindo o Futuro</a:t>
            </a:r>
            <a:endParaRPr b="0" i="0" sz="5100" u="none" cap="none" strike="noStrike"/>
          </a:p>
        </p:txBody>
      </p:sp>
      <p:sp>
        <p:nvSpPr>
          <p:cNvPr id="114" name="Google Shape;114;p15"/>
          <p:cNvSpPr/>
          <p:nvPr/>
        </p:nvSpPr>
        <p:spPr>
          <a:xfrm>
            <a:off x="864037" y="3162657"/>
            <a:ext cx="6327696" cy="4022169"/>
          </a:xfrm>
          <a:prstGeom prst="roundRect">
            <a:avLst>
              <a:gd fmla="val 3637" name="adj"/>
            </a:avLst>
          </a:prstGeom>
          <a:solidFill>
            <a:srgbClr val="FFFFFF"/>
          </a:solidFill>
          <a:ln cap="flat" cmpd="sng" w="30475">
            <a:solidFill>
              <a:srgbClr val="DA1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833557" y="3162657"/>
            <a:ext cx="121920" cy="4022169"/>
          </a:xfrm>
          <a:prstGeom prst="roundRect">
            <a:avLst>
              <a:gd fmla="val 85050" name="adj"/>
            </a:avLst>
          </a:prstGeom>
          <a:solidFill>
            <a:srgbClr val="DA1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1232773" y="3439954"/>
            <a:ext cx="3248501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GitHub</a:t>
            </a:r>
            <a:endParaRPr b="0" i="0" sz="2550" u="none" cap="none" strike="noStrike"/>
          </a:p>
        </p:txBody>
      </p:sp>
      <p:sp>
        <p:nvSpPr>
          <p:cNvPr id="117" name="Google Shape;117;p15"/>
          <p:cNvSpPr/>
          <p:nvPr/>
        </p:nvSpPr>
        <p:spPr>
          <a:xfrm>
            <a:off x="1232773" y="3994071"/>
            <a:ext cx="5681662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00"/>
              <a:buFont typeface="Sora"/>
              <a:buNone/>
            </a:pPr>
            <a:r>
              <a:rPr b="0" i="0" lang="en-US" sz="19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Explore meus projetos e contribuições em código aberto: </a:t>
            </a:r>
            <a:r>
              <a:rPr b="1" i="0" lang="en-US" sz="1900" u="sng" cap="none" strike="noStrike">
                <a:solidFill>
                  <a:schemeClr val="hlink"/>
                </a:solidFill>
                <a:latin typeface="Sora"/>
                <a:ea typeface="Sora"/>
                <a:cs typeface="Sora"/>
                <a:sym typeface="Sora"/>
                <a:hlinkClick r:id="rId3"/>
              </a:rPr>
              <a:t>hiramcarneiro-cmd</a:t>
            </a:r>
            <a:endParaRPr b="0" i="0" sz="1900" u="none" cap="none" strike="noStrike"/>
          </a:p>
        </p:txBody>
      </p:sp>
      <p:sp>
        <p:nvSpPr>
          <p:cNvPr id="118" name="Google Shape;118;p15"/>
          <p:cNvSpPr/>
          <p:nvPr/>
        </p:nvSpPr>
        <p:spPr>
          <a:xfrm>
            <a:off x="7438549" y="3162657"/>
            <a:ext cx="6327815" cy="4022169"/>
          </a:xfrm>
          <a:prstGeom prst="roundRect">
            <a:avLst>
              <a:gd fmla="val 3637" name="adj"/>
            </a:avLst>
          </a:prstGeom>
          <a:solidFill>
            <a:srgbClr val="FFFFFF"/>
          </a:solidFill>
          <a:ln cap="flat" cmpd="sng" w="30475">
            <a:solidFill>
              <a:srgbClr val="790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7408069" y="3162657"/>
            <a:ext cx="121920" cy="4022169"/>
          </a:xfrm>
          <a:prstGeom prst="roundRect">
            <a:avLst>
              <a:gd fmla="val 85050" name="adj"/>
            </a:avLst>
          </a:prstGeom>
          <a:solidFill>
            <a:srgbClr val="790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7807285" y="3439954"/>
            <a:ext cx="4969193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Pesquisa em Jogos e Autismo</a:t>
            </a:r>
            <a:endParaRPr b="0" i="0" sz="2550" u="none" cap="none" strike="noStrike"/>
          </a:p>
        </p:txBody>
      </p:sp>
      <p:sp>
        <p:nvSpPr>
          <p:cNvPr id="121" name="Google Shape;121;p15"/>
          <p:cNvSpPr/>
          <p:nvPr/>
        </p:nvSpPr>
        <p:spPr>
          <a:xfrm>
            <a:off x="7807285" y="3994071"/>
            <a:ext cx="5681782" cy="1185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00"/>
              <a:buFont typeface="Sora"/>
              <a:buNone/>
            </a:pPr>
            <a:r>
              <a:rPr b="0" i="0" lang="en-US" sz="19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Interessado em como jogos digitais podem ser ferramentas poderosas para desenvolvimento de crianças autistas.</a:t>
            </a:r>
            <a:endParaRPr b="0" i="0" sz="1900" u="none" cap="none" strike="noStrike"/>
          </a:p>
        </p:txBody>
      </p:sp>
      <p:sp>
        <p:nvSpPr>
          <p:cNvPr id="122" name="Google Shape;122;p15"/>
          <p:cNvSpPr/>
          <p:nvPr/>
        </p:nvSpPr>
        <p:spPr>
          <a:xfrm>
            <a:off x="7807285" y="5327332"/>
            <a:ext cx="5681782" cy="1580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00"/>
              <a:buFont typeface="Sora"/>
              <a:buNone/>
            </a:pPr>
            <a:r>
              <a:rPr b="0" i="0" lang="en-US" sz="19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Inspirado por pesquisas da UFERSA (Plataforma de jogos digitais para crianças com autismo) e UFC (TECA: Tecnologia Educacional para Crianças Autistas).</a:t>
            </a:r>
            <a:endParaRPr b="0" i="0" sz="1900" u="none" cap="none" strike="noStrike"/>
          </a:p>
        </p:txBody>
      </p:sp>
      <p:sp>
        <p:nvSpPr>
          <p:cNvPr id="123" name="Google Shape;123;p15"/>
          <p:cNvSpPr/>
          <p:nvPr/>
        </p:nvSpPr>
        <p:spPr>
          <a:xfrm>
            <a:off x="12866100" y="7579500"/>
            <a:ext cx="1764300" cy="65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/>
          <p:nvPr/>
        </p:nvSpPr>
        <p:spPr>
          <a:xfrm>
            <a:off x="864037" y="1726525"/>
            <a:ext cx="12902327" cy="1624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09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5100"/>
              <a:buFont typeface="Sora"/>
              <a:buNone/>
            </a:pPr>
            <a:r>
              <a:rPr b="0" i="0" lang="en-US" sz="5100" u="none" cap="none" strike="noStrike">
                <a:solidFill>
                  <a:srgbClr val="1F1E1E"/>
                </a:solidFill>
                <a:latin typeface="Sora"/>
                <a:ea typeface="Sora"/>
                <a:cs typeface="Sora"/>
                <a:sym typeface="Sora"/>
              </a:rPr>
              <a:t>Uma Perspectiva Única: Autismo como Força</a:t>
            </a:r>
            <a:endParaRPr b="0" i="0" sz="5100" u="none" cap="none" strike="noStrike"/>
          </a:p>
        </p:txBody>
      </p:sp>
      <p:sp>
        <p:nvSpPr>
          <p:cNvPr id="130" name="Google Shape;130;p16"/>
          <p:cNvSpPr/>
          <p:nvPr/>
        </p:nvSpPr>
        <p:spPr>
          <a:xfrm>
            <a:off x="864037" y="3844528"/>
            <a:ext cx="6327696" cy="2658428"/>
          </a:xfrm>
          <a:prstGeom prst="roundRect">
            <a:avLst>
              <a:gd fmla="val 3901" name="adj"/>
            </a:avLst>
          </a:prstGeom>
          <a:solidFill>
            <a:srgbClr val="DA1B2E"/>
          </a:solidFill>
          <a:ln cap="flat" cmpd="sng" w="15225">
            <a:solidFill>
              <a:srgbClr val="F334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1126093" y="4106585"/>
            <a:ext cx="3248501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Visão Analítica</a:t>
            </a:r>
            <a:endParaRPr b="0" i="0" sz="2550" u="none" cap="none" strike="noStrike"/>
          </a:p>
        </p:txBody>
      </p:sp>
      <p:sp>
        <p:nvSpPr>
          <p:cNvPr id="132" name="Google Shape;132;p16"/>
          <p:cNvSpPr/>
          <p:nvPr/>
        </p:nvSpPr>
        <p:spPr>
          <a:xfrm>
            <a:off x="1126093" y="4660702"/>
            <a:ext cx="5803583" cy="1580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Sora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Minha neurodiversidade permite abordar problemas com um olhar detalhista e analítico, essencial para depuração e otimização de código.</a:t>
            </a:r>
            <a:endParaRPr b="0" i="0" sz="1900" u="none" cap="none" strike="noStrike"/>
          </a:p>
        </p:txBody>
      </p:sp>
      <p:sp>
        <p:nvSpPr>
          <p:cNvPr id="133" name="Google Shape;133;p16"/>
          <p:cNvSpPr/>
          <p:nvPr/>
        </p:nvSpPr>
        <p:spPr>
          <a:xfrm>
            <a:off x="7438549" y="3844528"/>
            <a:ext cx="6327815" cy="2658428"/>
          </a:xfrm>
          <a:prstGeom prst="roundRect">
            <a:avLst>
              <a:gd fmla="val 3901" name="adj"/>
            </a:avLst>
          </a:prstGeom>
          <a:solidFill>
            <a:srgbClr val="DA1B2E"/>
          </a:solidFill>
          <a:ln cap="flat" cmpd="sng" w="15225">
            <a:solidFill>
              <a:srgbClr val="F334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7700605" y="4106585"/>
            <a:ext cx="3248501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Paixão Pessoal</a:t>
            </a:r>
            <a:endParaRPr b="0" i="0" sz="2550" u="none" cap="none" strike="noStrike"/>
          </a:p>
        </p:txBody>
      </p:sp>
      <p:sp>
        <p:nvSpPr>
          <p:cNvPr id="135" name="Google Shape;135;p16"/>
          <p:cNvSpPr/>
          <p:nvPr/>
        </p:nvSpPr>
        <p:spPr>
          <a:xfrm>
            <a:off x="7700605" y="4660702"/>
            <a:ext cx="5803702" cy="1580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Sora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Buscar compreender e aplicar tecnologias que auxiliem no desenvolvimento de pessoas com autismo é uma motivação pessoal e profissional profunda.</a:t>
            </a:r>
            <a:endParaRPr b="0" i="0" sz="1900" u="none" cap="none" strike="noStrike"/>
          </a:p>
        </p:txBody>
      </p:sp>
      <p:sp>
        <p:nvSpPr>
          <p:cNvPr id="136" name="Google Shape;136;p16"/>
          <p:cNvSpPr/>
          <p:nvPr/>
        </p:nvSpPr>
        <p:spPr>
          <a:xfrm>
            <a:off x="12895750" y="7115400"/>
            <a:ext cx="1601700" cy="1114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/>
          <p:nvPr/>
        </p:nvSpPr>
        <p:spPr>
          <a:xfrm>
            <a:off x="864037" y="1648301"/>
            <a:ext cx="6781324" cy="81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09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5100"/>
              <a:buFont typeface="Sora"/>
              <a:buNone/>
            </a:pPr>
            <a:r>
              <a:rPr b="0" i="0" lang="en-US" sz="5100" u="none" cap="none" strike="noStrike">
                <a:solidFill>
                  <a:srgbClr val="1F1E1E"/>
                </a:solidFill>
                <a:latin typeface="Sora"/>
                <a:ea typeface="Sora"/>
                <a:cs typeface="Sora"/>
                <a:sym typeface="Sora"/>
              </a:rPr>
              <a:t>Conecte-se Comigo</a:t>
            </a:r>
            <a:endParaRPr b="0" i="0" sz="5100" u="none" cap="none" strike="noStrike"/>
          </a:p>
        </p:txBody>
      </p:sp>
      <p:sp>
        <p:nvSpPr>
          <p:cNvPr id="143" name="Google Shape;143;p17"/>
          <p:cNvSpPr/>
          <p:nvPr/>
        </p:nvSpPr>
        <p:spPr>
          <a:xfrm>
            <a:off x="864037" y="2954179"/>
            <a:ext cx="4136231" cy="3627120"/>
          </a:xfrm>
          <a:prstGeom prst="roundRect">
            <a:avLst>
              <a:gd fmla="val 2859" name="adj"/>
            </a:avLst>
          </a:prstGeom>
          <a:solidFill>
            <a:srgbClr val="FFFFFF"/>
          </a:solidFill>
          <a:ln cap="flat" cmpd="sng" w="30475">
            <a:solidFill>
              <a:srgbClr val="DFB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1141333" y="3231475"/>
            <a:ext cx="3248501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📧</a:t>
            </a:r>
            <a:r>
              <a:rPr b="0" i="0" lang="en-US" sz="255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 Email</a:t>
            </a:r>
            <a:endParaRPr b="0" i="0" sz="2550" u="none" cap="none" strike="noStrike"/>
          </a:p>
        </p:txBody>
      </p:sp>
      <p:sp>
        <p:nvSpPr>
          <p:cNvPr id="145" name="Google Shape;145;p17"/>
          <p:cNvSpPr/>
          <p:nvPr/>
        </p:nvSpPr>
        <p:spPr>
          <a:xfrm>
            <a:off x="1141333" y="3785592"/>
            <a:ext cx="3581638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900"/>
              <a:buFont typeface="Sora"/>
              <a:buNone/>
            </a:pPr>
            <a:r>
              <a:rPr b="0" i="0" lang="en-US" sz="1900" u="sng" cap="none" strike="noStrike">
                <a:solidFill>
                  <a:schemeClr val="hlink"/>
                </a:solidFill>
                <a:latin typeface="Sora"/>
                <a:ea typeface="Sora"/>
                <a:cs typeface="Sora"/>
                <a:sym typeface="Sora"/>
                <a:hlinkClick r:id="rId3"/>
              </a:rPr>
              <a:t>hiram.carneiro@gmail.com</a:t>
            </a:r>
            <a:endParaRPr b="0" i="0" sz="1900" u="none" cap="none" strike="noStrike"/>
          </a:p>
        </p:txBody>
      </p:sp>
      <p:sp>
        <p:nvSpPr>
          <p:cNvPr id="146" name="Google Shape;146;p17"/>
          <p:cNvSpPr/>
          <p:nvPr/>
        </p:nvSpPr>
        <p:spPr>
          <a:xfrm>
            <a:off x="1141333" y="4328755"/>
            <a:ext cx="3581638" cy="1975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00"/>
              <a:buFont typeface="Sora"/>
              <a:buNone/>
            </a:pPr>
            <a:r>
              <a:rPr b="0" i="0" lang="en-US" sz="19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Entre em contato para oportunidades, colaborações ou apenas para conversar sobre tecnologia!</a:t>
            </a:r>
            <a:endParaRPr b="0" i="0" sz="1900" u="none" cap="none" strike="noStrike"/>
          </a:p>
        </p:txBody>
      </p:sp>
      <p:sp>
        <p:nvSpPr>
          <p:cNvPr id="147" name="Google Shape;147;p17"/>
          <p:cNvSpPr/>
          <p:nvPr/>
        </p:nvSpPr>
        <p:spPr>
          <a:xfrm>
            <a:off x="5247084" y="2954179"/>
            <a:ext cx="4136231" cy="3627120"/>
          </a:xfrm>
          <a:prstGeom prst="roundRect">
            <a:avLst>
              <a:gd fmla="val 2859" name="adj"/>
            </a:avLst>
          </a:prstGeom>
          <a:solidFill>
            <a:srgbClr val="FFFFFF"/>
          </a:solidFill>
          <a:ln cap="flat" cmpd="sng" w="30475">
            <a:solidFill>
              <a:srgbClr val="DFB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524381" y="3231475"/>
            <a:ext cx="3248501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🎮</a:t>
            </a:r>
            <a:r>
              <a:rPr b="0" i="0" lang="en-US" sz="255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 Discord</a:t>
            </a:r>
            <a:endParaRPr b="0" i="0" sz="2550" u="none" cap="none" strike="noStrike"/>
          </a:p>
        </p:txBody>
      </p:sp>
      <p:sp>
        <p:nvSpPr>
          <p:cNvPr id="149" name="Google Shape;149;p17"/>
          <p:cNvSpPr/>
          <p:nvPr/>
        </p:nvSpPr>
        <p:spPr>
          <a:xfrm>
            <a:off x="5524381" y="3785592"/>
            <a:ext cx="3581638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00"/>
              <a:buFont typeface="Sora"/>
              <a:buNone/>
            </a:pPr>
            <a:r>
              <a:rPr b="1" i="0" lang="en-US" sz="19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hirampessoa9917</a:t>
            </a:r>
            <a:endParaRPr b="0" i="0" sz="1900" u="none" cap="none" strike="noStrike"/>
          </a:p>
        </p:txBody>
      </p:sp>
      <p:sp>
        <p:nvSpPr>
          <p:cNvPr id="150" name="Google Shape;150;p17"/>
          <p:cNvSpPr/>
          <p:nvPr/>
        </p:nvSpPr>
        <p:spPr>
          <a:xfrm>
            <a:off x="5524381" y="4328755"/>
            <a:ext cx="3581638" cy="1580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00"/>
              <a:buFont typeface="Sora"/>
              <a:buNone/>
            </a:pPr>
            <a:r>
              <a:rPr b="0" i="0" lang="en-US" sz="19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Disponível para bate-papo, discussões sobre jogos e compartilhamento de conhecimento.</a:t>
            </a:r>
            <a:endParaRPr b="0" i="0" sz="1900" u="none" cap="none" strike="noStrike"/>
          </a:p>
        </p:txBody>
      </p:sp>
      <p:sp>
        <p:nvSpPr>
          <p:cNvPr id="151" name="Google Shape;151;p17"/>
          <p:cNvSpPr/>
          <p:nvPr/>
        </p:nvSpPr>
        <p:spPr>
          <a:xfrm>
            <a:off x="9630132" y="2954179"/>
            <a:ext cx="4136231" cy="3627120"/>
          </a:xfrm>
          <a:prstGeom prst="roundRect">
            <a:avLst>
              <a:gd fmla="val 2859" name="adj"/>
            </a:avLst>
          </a:prstGeom>
          <a:solidFill>
            <a:srgbClr val="FFFFFF"/>
          </a:solidFill>
          <a:ln cap="flat" cmpd="sng" w="30475">
            <a:solidFill>
              <a:srgbClr val="DFB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9907429" y="3231475"/>
            <a:ext cx="3248501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💻</a:t>
            </a:r>
            <a:r>
              <a:rPr b="0" i="0" lang="en-US" sz="255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 GitHub</a:t>
            </a:r>
            <a:endParaRPr b="0" i="0" sz="2550" u="none" cap="none" strike="noStrike"/>
          </a:p>
        </p:txBody>
      </p:sp>
      <p:sp>
        <p:nvSpPr>
          <p:cNvPr id="153" name="Google Shape;153;p17"/>
          <p:cNvSpPr/>
          <p:nvPr/>
        </p:nvSpPr>
        <p:spPr>
          <a:xfrm>
            <a:off x="9907429" y="3785592"/>
            <a:ext cx="3581638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900"/>
              <a:buFont typeface="Sora"/>
              <a:buNone/>
            </a:pPr>
            <a:r>
              <a:rPr b="0" i="0" lang="en-US" sz="1900" u="sng" cap="none" strike="noStrike">
                <a:solidFill>
                  <a:schemeClr val="hlink"/>
                </a:solidFill>
                <a:latin typeface="Sora"/>
                <a:ea typeface="Sora"/>
                <a:cs typeface="Sora"/>
                <a:sym typeface="Sora"/>
                <a:hlinkClick r:id="rId4"/>
              </a:rPr>
              <a:t>hiramcarneiro-cmd</a:t>
            </a:r>
            <a:endParaRPr b="0" i="0" sz="1900" u="none" cap="none" strike="noStrike"/>
          </a:p>
        </p:txBody>
      </p:sp>
      <p:sp>
        <p:nvSpPr>
          <p:cNvPr id="154" name="Google Shape;154;p17"/>
          <p:cNvSpPr/>
          <p:nvPr/>
        </p:nvSpPr>
        <p:spPr>
          <a:xfrm>
            <a:off x="9907429" y="4328755"/>
            <a:ext cx="3581638" cy="1185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00"/>
              <a:buFont typeface="Sora"/>
              <a:buNone/>
            </a:pPr>
            <a:r>
              <a:rPr b="0" i="0" lang="en-US" sz="19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Explore meus projetos, contribuições e código em desenvolvimento.</a:t>
            </a:r>
            <a:endParaRPr b="0" i="0" sz="1900" u="none" cap="none" strike="noStrike"/>
          </a:p>
        </p:txBody>
      </p:sp>
      <p:sp>
        <p:nvSpPr>
          <p:cNvPr id="155" name="Google Shape;155;p17"/>
          <p:cNvSpPr/>
          <p:nvPr/>
        </p:nvSpPr>
        <p:spPr>
          <a:xfrm>
            <a:off x="12824400" y="7040700"/>
            <a:ext cx="1706400" cy="1114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/>
          <p:nvPr/>
        </p:nvSpPr>
        <p:spPr>
          <a:xfrm>
            <a:off x="864037" y="922734"/>
            <a:ext cx="12008644" cy="81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09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5100"/>
              <a:buFont typeface="Sora"/>
              <a:buNone/>
            </a:pPr>
            <a:r>
              <a:rPr b="0" i="0" lang="en-US" sz="5100" u="none" cap="none" strike="noStrike">
                <a:solidFill>
                  <a:srgbClr val="1F1E1E"/>
                </a:solidFill>
                <a:latin typeface="Sora"/>
                <a:ea typeface="Sora"/>
                <a:cs typeface="Sora"/>
                <a:sym typeface="Sora"/>
              </a:rPr>
              <a:t>Visão de Futuro: Inovação e Impacto</a:t>
            </a:r>
            <a:endParaRPr b="0" i="0" sz="5100" u="none" cap="none" strike="noStrike"/>
          </a:p>
        </p:txBody>
      </p:sp>
      <p:pic>
        <p:nvPicPr>
          <p:cNvPr descr="preencoded.png"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4037" y="2228612"/>
            <a:ext cx="4300776" cy="98750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/>
          <p:nvPr/>
        </p:nvSpPr>
        <p:spPr>
          <a:xfrm>
            <a:off x="1110853" y="3462933"/>
            <a:ext cx="3248501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Objetivo</a:t>
            </a:r>
            <a:endParaRPr b="0" i="0" sz="2550" u="none" cap="none" strike="noStrike"/>
          </a:p>
        </p:txBody>
      </p:sp>
      <p:sp>
        <p:nvSpPr>
          <p:cNvPr id="164" name="Google Shape;164;p18"/>
          <p:cNvSpPr/>
          <p:nvPr/>
        </p:nvSpPr>
        <p:spPr>
          <a:xfrm>
            <a:off x="1110853" y="4017050"/>
            <a:ext cx="3807143" cy="1975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00"/>
              <a:buFont typeface="Sora"/>
              <a:buNone/>
            </a:pPr>
            <a:r>
              <a:rPr b="0" i="0" lang="en-US" sz="19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Aplicar conhecimentos em Análise e Desenvolvimento de Sistemas para criar soluções tecnológicas que façam diferença real.</a:t>
            </a:r>
            <a:endParaRPr b="0" i="0" sz="1900" u="none" cap="none" strike="noStrike"/>
          </a:p>
        </p:txBody>
      </p:sp>
      <p:pic>
        <p:nvPicPr>
          <p:cNvPr descr="preencoded.png" id="165" name="Google Shape;1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4812" y="2228612"/>
            <a:ext cx="4300776" cy="98750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/>
          <p:nvPr/>
        </p:nvSpPr>
        <p:spPr>
          <a:xfrm>
            <a:off x="5411629" y="3462933"/>
            <a:ext cx="3248501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Aprendizado</a:t>
            </a:r>
            <a:endParaRPr b="0" i="0" sz="2550" u="none" cap="none" strike="noStrike"/>
          </a:p>
        </p:txBody>
      </p:sp>
      <p:sp>
        <p:nvSpPr>
          <p:cNvPr id="167" name="Google Shape;167;p18"/>
          <p:cNvSpPr/>
          <p:nvPr/>
        </p:nvSpPr>
        <p:spPr>
          <a:xfrm>
            <a:off x="5411629" y="4017050"/>
            <a:ext cx="3807143" cy="1580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00"/>
              <a:buFont typeface="Sora"/>
              <a:buNone/>
            </a:pPr>
            <a:r>
              <a:rPr b="0" i="0" lang="en-US" sz="19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Comprometido com educação contínua e exploração de novas fronteiras na área de tecnologia.</a:t>
            </a:r>
            <a:endParaRPr b="0" i="0" sz="1900" u="none" cap="none" strike="noStrike"/>
          </a:p>
        </p:txBody>
      </p:sp>
      <p:pic>
        <p:nvPicPr>
          <p:cNvPr descr="preencoded.png" id="168" name="Google Shape;16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65588" y="2228612"/>
            <a:ext cx="4300776" cy="98750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/>
          <p:nvPr/>
        </p:nvSpPr>
        <p:spPr>
          <a:xfrm>
            <a:off x="9712404" y="3462933"/>
            <a:ext cx="3248501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Inovação</a:t>
            </a:r>
            <a:endParaRPr b="0" i="0" sz="2550" u="none" cap="none" strike="noStrike"/>
          </a:p>
        </p:txBody>
      </p:sp>
      <p:sp>
        <p:nvSpPr>
          <p:cNvPr id="170" name="Google Shape;170;p18"/>
          <p:cNvSpPr/>
          <p:nvPr/>
        </p:nvSpPr>
        <p:spPr>
          <a:xfrm>
            <a:off x="9712404" y="4017050"/>
            <a:ext cx="3807143" cy="2370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00"/>
              <a:buFont typeface="Sora"/>
              <a:buNone/>
            </a:pPr>
            <a:r>
              <a:rPr b="0" i="0" lang="en-US" sz="19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Buscando constantemente novas abordagens e tecnologias para resolver problemas complexos de forma criativa; ou pelo menos tento. :)</a:t>
            </a:r>
            <a:endParaRPr b="0" i="0" sz="1900" u="none" cap="none" strike="noStrike"/>
          </a:p>
        </p:txBody>
      </p:sp>
      <p:sp>
        <p:nvSpPr>
          <p:cNvPr id="171" name="Google Shape;171;p18"/>
          <p:cNvSpPr/>
          <p:nvPr/>
        </p:nvSpPr>
        <p:spPr>
          <a:xfrm>
            <a:off x="864037" y="6911816"/>
            <a:ext cx="12902327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0" i="0" sz="1900" u="none" cap="none" strike="noStrike"/>
          </a:p>
        </p:txBody>
      </p:sp>
      <p:sp>
        <p:nvSpPr>
          <p:cNvPr id="172" name="Google Shape;172;p18"/>
          <p:cNvSpPr/>
          <p:nvPr/>
        </p:nvSpPr>
        <p:spPr>
          <a:xfrm>
            <a:off x="12872675" y="7768950"/>
            <a:ext cx="1680900" cy="40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